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5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457200"/>
            <a:ext cx="1280160" cy="1280160"/>
          </a:xfrm>
          <a:prstGeom prst="ellipse">
            <a:avLst/>
          </a:prstGeom>
          <a:solidFill>
            <a:srgbClr val="78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07040" y="1371600"/>
            <a:ext cx="640080" cy="640080"/>
          </a:xfrm>
          <a:prstGeom prst="ellipse">
            <a:avLst/>
          </a:prstGeom>
          <a:solidFill>
            <a:srgbClr val="41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326880" y="1828800"/>
            <a:ext cx="320040" cy="320040"/>
          </a:xfrm>
          <a:prstGeom prst="ellipse">
            <a:avLst/>
          </a:prstGeom>
          <a:solidFill>
            <a:srgbClr val="4B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8595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8FC"/>
                </a:solidFill>
              </a:defRPr>
            </a:pPr>
            <a:r>
              <a:rPr dirty="0"/>
              <a:t>Voice-Controlled Desktop Assistant</a:t>
            </a:r>
          </a:p>
          <a:p>
            <a:pPr>
              <a:defRPr sz="3800" b="1">
                <a:solidFill>
                  <a:srgbClr val="41B4DC"/>
                </a:solidFill>
              </a:defRPr>
            </a:pPr>
            <a:r>
              <a:rPr dirty="0"/>
              <a:t>Using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AAB9CD"/>
                </a:solidFill>
              </a:defRPr>
            </a:pPr>
            <a:r>
              <a:t>Speech Recognition • Command Processing • GUI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51960"/>
            <a:ext cx="2057400" cy="777240"/>
          </a:xfrm>
          <a:prstGeom prst="roundRect">
            <a:avLst/>
          </a:prstGeom>
          <a:solidFill>
            <a:srgbClr val="142034"/>
          </a:solidFill>
          <a:ln>
            <a:solidFill>
              <a:srgbClr val="41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🎙  Voice Input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63240" y="4645152"/>
            <a:ext cx="822960" cy="0"/>
          </a:xfrm>
          <a:prstGeom prst="line">
            <a:avLst/>
          </a:prstGeom>
          <a:ln w="27940">
            <a:solidFill>
              <a:srgbClr val="41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977639" y="4251960"/>
            <a:ext cx="2057400" cy="777240"/>
          </a:xfrm>
          <a:prstGeom prst="roundRect">
            <a:avLst/>
          </a:prstGeom>
          <a:solidFill>
            <a:srgbClr val="142034"/>
          </a:solidFill>
          <a:ln>
            <a:solidFill>
              <a:srgbClr val="786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Python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26480" y="4645152"/>
            <a:ext cx="822960" cy="0"/>
          </a:xfrm>
          <a:prstGeom prst="line">
            <a:avLst/>
          </a:prstGeom>
          <a:ln w="27940">
            <a:solidFill>
              <a:srgbClr val="41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040880" y="4251960"/>
            <a:ext cx="2377440" cy="777240"/>
          </a:xfrm>
          <a:prstGeom prst="roundRect">
            <a:avLst/>
          </a:prstGeom>
          <a:solidFill>
            <a:srgbClr val="142034"/>
          </a:solidFill>
          <a:ln>
            <a:solidFill>
              <a:srgbClr val="4B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🖥  Computer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D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5568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9CD"/>
                </a:solidFill>
                <a:latin typeface="Aptos"/>
              </a:defRPr>
            </a:pPr>
            <a:r>
              <a:t>A continuous Input → Process → Action → Output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1828800" cy="777240"/>
          </a:xfrm>
          <a:prstGeom prst="roundRect">
            <a:avLst/>
          </a:prstGeom>
          <a:solidFill>
            <a:srgbClr val="142034"/>
          </a:solidFill>
          <a:ln>
            <a:solidFill>
              <a:srgbClr val="41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🎙 Microphone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2212848"/>
            <a:ext cx="594360" cy="0"/>
          </a:xfrm>
          <a:prstGeom prst="line">
            <a:avLst/>
          </a:prstGeom>
          <a:ln w="27940">
            <a:solidFill>
              <a:srgbClr val="41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46120" y="1828800"/>
            <a:ext cx="1965960" cy="777240"/>
          </a:xfrm>
          <a:prstGeom prst="roundRect">
            <a:avLst/>
          </a:prstGeom>
          <a:solidFill>
            <a:srgbClr val="142034"/>
          </a:solidFill>
          <a:ln>
            <a:solidFill>
              <a:srgbClr val="786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Speech-to-Text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257800" y="2212848"/>
            <a:ext cx="594360" cy="0"/>
          </a:xfrm>
          <a:prstGeom prst="line">
            <a:avLst/>
          </a:prstGeom>
          <a:ln w="27940">
            <a:solidFill>
              <a:srgbClr val="41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943600" y="1828800"/>
            <a:ext cx="1920240" cy="777240"/>
          </a:xfrm>
          <a:prstGeom prst="roundRect">
            <a:avLst/>
          </a:prstGeom>
          <a:solidFill>
            <a:srgbClr val="142034"/>
          </a:solidFill>
          <a:ln>
            <a:solidFill>
              <a:srgbClr val="41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Command</a:t>
            </a:r>
            <a:br/>
            <a:r>
              <a:t>Processing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09560" y="2212848"/>
            <a:ext cx="594360" cy="0"/>
          </a:xfrm>
          <a:prstGeom prst="line">
            <a:avLst/>
          </a:prstGeom>
          <a:ln w="27940">
            <a:solidFill>
              <a:srgbClr val="41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595360" y="1828800"/>
            <a:ext cx="2148840" cy="777240"/>
          </a:xfrm>
          <a:prstGeom prst="roundRect">
            <a:avLst/>
          </a:prstGeom>
          <a:solidFill>
            <a:srgbClr val="142034"/>
          </a:solidFill>
          <a:ln>
            <a:solidFill>
              <a:srgbClr val="4B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Computer</a:t>
            </a:r>
            <a:br/>
            <a:r>
              <a:t>Action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38160" y="2743200"/>
            <a:ext cx="0" cy="914400"/>
          </a:xfrm>
          <a:prstGeom prst="line">
            <a:avLst/>
          </a:prstGeom>
          <a:ln w="27940">
            <a:solidFill>
              <a:srgbClr val="7864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12280" y="3794760"/>
            <a:ext cx="2651760" cy="777240"/>
          </a:xfrm>
          <a:prstGeom prst="roundRect">
            <a:avLst/>
          </a:prstGeom>
          <a:solidFill>
            <a:srgbClr val="142034"/>
          </a:solidFill>
          <a:ln>
            <a:solidFill>
              <a:srgbClr val="786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pyttsx3 → Voice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800600"/>
            <a:ext cx="4754880" cy="1051560"/>
          </a:xfrm>
          <a:prstGeom prst="roundRect">
            <a:avLst/>
          </a:prstGeom>
          <a:solidFill>
            <a:srgbClr val="142034"/>
          </a:solidFill>
          <a:ln>
            <a:solidFill>
              <a:srgbClr val="2A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" y="4800600"/>
            <a:ext cx="64008" cy="1051560"/>
          </a:xfrm>
          <a:prstGeom prst="rect">
            <a:avLst/>
          </a:prstGeom>
          <a:solidFill>
            <a:srgbClr val="41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568" y="4965192"/>
            <a:ext cx="4389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Example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5422392"/>
            <a:ext cx="4370832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AB9CD"/>
                </a:solidFill>
              </a:defRPr>
            </a:pPr>
            <a:r>
              <a:t>“open notepad”  →  Notepad opens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800600"/>
            <a:ext cx="4754880" cy="1051560"/>
          </a:xfrm>
          <a:prstGeom prst="roundRect">
            <a:avLst/>
          </a:prstGeom>
          <a:solidFill>
            <a:srgbClr val="142034"/>
          </a:solidFill>
          <a:ln>
            <a:solidFill>
              <a:srgbClr val="2A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4800600"/>
            <a:ext cx="64008" cy="1051560"/>
          </a:xfrm>
          <a:prstGeom prst="rect">
            <a:avLst/>
          </a:prstGeom>
          <a:solidFill>
            <a:srgbClr val="4B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01968" y="4965192"/>
            <a:ext cx="4389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Example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5422392"/>
            <a:ext cx="4370832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AB9CD"/>
                </a:solidFill>
              </a:defRPr>
            </a:pPr>
            <a:r>
              <a:t>“type hello world”  →  text is typed into the active window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D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5568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11430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AAB9CD"/>
                </a:solidFill>
              </a:defRPr>
            </a:pPr>
            <a:r>
              <a:t>The assistant bridges voice input with desktop automation using Python libraries.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Libraries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9CD"/>
                </a:solidFill>
                <a:latin typeface="Aptos"/>
              </a:defRPr>
            </a:pPr>
            <a:r>
              <a:t>The components and their roles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429000" cy="1600200"/>
          </a:xfrm>
          <a:prstGeom prst="roundRect">
            <a:avLst/>
          </a:prstGeom>
          <a:solidFill>
            <a:srgbClr val="142034"/>
          </a:solidFill>
          <a:ln>
            <a:solidFill>
              <a:srgbClr val="2A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64008" cy="1600200"/>
          </a:xfrm>
          <a:prstGeom prst="rect">
            <a:avLst/>
          </a:prstGeom>
          <a:solidFill>
            <a:srgbClr val="41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71907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speech_recognition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76272"/>
            <a:ext cx="304495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AB9CD"/>
                </a:solidFill>
                <a:latin typeface="Aptos"/>
              </a:defRPr>
            </a:pPr>
            <a:r>
              <a:t>Captures microphone audio and converts speech into 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429000" cy="1600200"/>
          </a:xfrm>
          <a:prstGeom prst="roundRect">
            <a:avLst/>
          </a:prstGeom>
          <a:solidFill>
            <a:srgbClr val="142034"/>
          </a:solidFill>
          <a:ln>
            <a:solidFill>
              <a:srgbClr val="2A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554480"/>
            <a:ext cx="64008" cy="1600200"/>
          </a:xfrm>
          <a:prstGeom prst="rect">
            <a:avLst/>
          </a:prstGeom>
          <a:solidFill>
            <a:srgbClr val="78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8" y="171907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pyttsx3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176272"/>
            <a:ext cx="304495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AB9CD"/>
                </a:solidFill>
                <a:latin typeface="Aptos"/>
              </a:defRPr>
            </a:pPr>
            <a:r>
              <a:t>Converts text responses into speech using the OS speech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54480"/>
            <a:ext cx="3429000" cy="1600200"/>
          </a:xfrm>
          <a:prstGeom prst="roundRect">
            <a:avLst/>
          </a:prstGeom>
          <a:solidFill>
            <a:srgbClr val="142034"/>
          </a:solidFill>
          <a:ln>
            <a:solidFill>
              <a:srgbClr val="2A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554480"/>
            <a:ext cx="64008" cy="1600200"/>
          </a:xfrm>
          <a:prstGeom prst="rect">
            <a:avLst/>
          </a:prstGeom>
          <a:solidFill>
            <a:srgbClr val="4B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0768" y="171907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pyautogui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2176272"/>
            <a:ext cx="304495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AB9CD"/>
                </a:solidFill>
                <a:latin typeface="Aptos"/>
              </a:defRPr>
            </a:pPr>
            <a:r>
              <a:t>Simulates keyboard and mouse input for GUI automation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11880"/>
            <a:ext cx="3429000" cy="1600200"/>
          </a:xfrm>
          <a:prstGeom prst="roundRect">
            <a:avLst/>
          </a:prstGeom>
          <a:solidFill>
            <a:srgbClr val="142034"/>
          </a:solidFill>
          <a:ln>
            <a:solidFill>
              <a:srgbClr val="2A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611880"/>
            <a:ext cx="64008" cy="1600200"/>
          </a:xfrm>
          <a:prstGeom prst="rect">
            <a:avLst/>
          </a:prstGeom>
          <a:solidFill>
            <a:srgbClr val="41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77647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233672"/>
            <a:ext cx="304495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AB9CD"/>
                </a:solidFill>
                <a:latin typeface="Aptos"/>
              </a:defRPr>
            </a:pPr>
            <a:r>
              <a:t>Executes operating-system commands such as launching Notepad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611880"/>
            <a:ext cx="3429000" cy="1600200"/>
          </a:xfrm>
          <a:prstGeom prst="roundRect">
            <a:avLst/>
          </a:prstGeom>
          <a:solidFill>
            <a:srgbClr val="142034"/>
          </a:solidFill>
          <a:ln>
            <a:solidFill>
              <a:srgbClr val="2A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34840" y="3611880"/>
            <a:ext cx="64008" cy="1600200"/>
          </a:xfrm>
          <a:prstGeom prst="rect">
            <a:avLst/>
          </a:prstGeom>
          <a:solidFill>
            <a:srgbClr val="78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36008" y="377647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sys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4233672"/>
            <a:ext cx="304495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AB9CD"/>
                </a:solidFill>
                <a:latin typeface="Aptos"/>
              </a:defRPr>
            </a:pPr>
            <a:r>
              <a:t>Used to identify the operating-system environment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611880"/>
            <a:ext cx="3429000" cy="1600200"/>
          </a:xfrm>
          <a:prstGeom prst="roundRect">
            <a:avLst/>
          </a:prstGeom>
          <a:solidFill>
            <a:srgbClr val="142034"/>
          </a:solidFill>
          <a:ln>
            <a:solidFill>
              <a:srgbClr val="2A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3611880"/>
            <a:ext cx="64008" cy="1600200"/>
          </a:xfrm>
          <a:prstGeom prst="rect">
            <a:avLst/>
          </a:prstGeom>
          <a:solidFill>
            <a:srgbClr val="4B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30768" y="377647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4233672"/>
            <a:ext cx="304495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AB9CD"/>
                </a:solidFill>
                <a:latin typeface="Aptos"/>
              </a:defRPr>
            </a:pPr>
            <a:r>
              <a:t>Provides delays such as time.sleep() for synchronization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D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15568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806440"/>
            <a:ext cx="10607040" cy="438912"/>
          </a:xfrm>
          <a:prstGeom prst="roundRect">
            <a:avLst/>
          </a:prstGeom>
          <a:solidFill>
            <a:srgbClr val="19283E"/>
          </a:solidFill>
          <a:ln>
            <a:solidFill>
              <a:srgbClr val="2D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41B4DC"/>
                </a:solidFill>
              </a:defRPr>
            </a:pPr>
            <a:r>
              <a:t>Together: Listen  →  Understand  →  Act  →  Respond</a:t>
            </a: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9CD"/>
                </a:solidFill>
                <a:latin typeface="Aptos"/>
              </a:defRPr>
            </a:pPr>
            <a:r>
              <a:t>How the components connect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508760"/>
            <a:ext cx="3383280" cy="594360"/>
          </a:xfrm>
          <a:prstGeom prst="roundRect">
            <a:avLst/>
          </a:prstGeom>
          <a:solidFill>
            <a:srgbClr val="142034"/>
          </a:solidFill>
          <a:ln>
            <a:solidFill>
              <a:srgbClr val="41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MICROPHONE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331720"/>
            <a:ext cx="3383280" cy="594360"/>
          </a:xfrm>
          <a:prstGeom prst="roundRect">
            <a:avLst/>
          </a:prstGeom>
          <a:solidFill>
            <a:srgbClr val="142034"/>
          </a:solidFill>
          <a:ln>
            <a:solidFill>
              <a:srgbClr val="41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speech_recognition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3154680"/>
            <a:ext cx="3383280" cy="594360"/>
          </a:xfrm>
          <a:prstGeom prst="roundRect">
            <a:avLst/>
          </a:prstGeom>
          <a:solidFill>
            <a:srgbClr val="142034"/>
          </a:solidFill>
          <a:ln>
            <a:solidFill>
              <a:srgbClr val="41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TEXT COMMAND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77639"/>
            <a:ext cx="3383280" cy="594360"/>
          </a:xfrm>
          <a:prstGeom prst="roundRect">
            <a:avLst/>
          </a:prstGeom>
          <a:solidFill>
            <a:srgbClr val="142034"/>
          </a:solidFill>
          <a:ln>
            <a:solidFill>
              <a:srgbClr val="786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process_command()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2103120"/>
            <a:ext cx="0" cy="228600"/>
          </a:xfrm>
          <a:prstGeom prst="line">
            <a:avLst/>
          </a:prstGeom>
          <a:ln w="27940">
            <a:solidFill>
              <a:srgbClr val="41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80760" y="2926079"/>
            <a:ext cx="0" cy="228601"/>
          </a:xfrm>
          <a:prstGeom prst="line">
            <a:avLst/>
          </a:prstGeom>
          <a:ln w="27940">
            <a:solidFill>
              <a:srgbClr val="41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3749040"/>
            <a:ext cx="0" cy="228599"/>
          </a:xfrm>
          <a:prstGeom prst="line">
            <a:avLst/>
          </a:prstGeom>
          <a:ln w="27940">
            <a:solidFill>
              <a:srgbClr val="41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743200" y="4572000"/>
            <a:ext cx="2011680" cy="640080"/>
          </a:xfrm>
          <a:prstGeom prst="line">
            <a:avLst/>
          </a:prstGeom>
          <a:ln w="27940">
            <a:solidFill>
              <a:srgbClr val="41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223760" y="4572000"/>
            <a:ext cx="2011680" cy="640080"/>
          </a:xfrm>
          <a:prstGeom prst="line">
            <a:avLst/>
          </a:prstGeom>
          <a:ln w="27940">
            <a:solidFill>
              <a:srgbClr val="4BC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05840" y="5257800"/>
            <a:ext cx="3291840" cy="731520"/>
          </a:xfrm>
          <a:prstGeom prst="roundRect">
            <a:avLst/>
          </a:prstGeom>
          <a:solidFill>
            <a:srgbClr val="142034"/>
          </a:solidFill>
          <a:ln>
            <a:solidFill>
              <a:srgbClr val="41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os</a:t>
            </a:r>
            <a:br/>
            <a:r>
              <a:t>System 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5257800"/>
            <a:ext cx="3291840" cy="731520"/>
          </a:xfrm>
          <a:prstGeom prst="roundRect">
            <a:avLst/>
          </a:prstGeom>
          <a:solidFill>
            <a:srgbClr val="142034"/>
          </a:solidFill>
          <a:ln>
            <a:solidFill>
              <a:srgbClr val="4B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pyautogui</a:t>
            </a:r>
            <a:br/>
            <a:r>
              <a:t>Keyboard / Mouse 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257800"/>
            <a:ext cx="3383280" cy="731520"/>
          </a:xfrm>
          <a:prstGeom prst="roundRect">
            <a:avLst/>
          </a:prstGeom>
          <a:solidFill>
            <a:srgbClr val="142034"/>
          </a:solidFill>
          <a:ln>
            <a:solidFill>
              <a:srgbClr val="786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pyttsx3 → 🔊 Voice Response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D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5568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92040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AB9CD"/>
                </a:solidFill>
              </a:defRPr>
            </a:pPr>
            <a:r>
              <a:t>System / Application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892040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AB9CD"/>
                </a:solidFill>
              </a:defRPr>
            </a:pPr>
            <a:r>
              <a:t>Keyboard / Mouse Control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Speech-to-Text &amp; Text-to-Speech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9CD"/>
                </a:solidFill>
                <a:latin typeface="Aptos"/>
              </a:defRPr>
            </a:pPr>
            <a:r>
              <a:t>The assistant listens and speaks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303520" cy="4251960"/>
          </a:xfrm>
          <a:prstGeom prst="roundRect">
            <a:avLst/>
          </a:prstGeom>
          <a:solidFill>
            <a:srgbClr val="142034"/>
          </a:solidFill>
          <a:ln>
            <a:solidFill>
              <a:srgbClr val="2A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64008" cy="4251960"/>
          </a:xfrm>
          <a:prstGeom prst="rect">
            <a:avLst/>
          </a:prstGeom>
          <a:solidFill>
            <a:srgbClr val="41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673351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Speech-to-Text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30552"/>
            <a:ext cx="4919472" cy="350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AB9CD"/>
                </a:solidFill>
              </a:defRPr>
            </a:pPr>
            <a:r>
              <a:t>sr.Microphone()</a:t>
            </a:r>
            <a:br/>
            <a:br/>
            <a:r>
              <a:t>adjust_for_ambient_noise()</a:t>
            </a:r>
            <a:br/>
            <a:br/>
            <a:r>
              <a:t>recognizer.listen()</a:t>
            </a:r>
            <a:br/>
            <a:br/>
            <a:r>
              <a:t>recognize_google()</a:t>
            </a:r>
            <a:br/>
            <a:br/>
            <a:r>
              <a:t>→ returns a text command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303520" cy="4251960"/>
          </a:xfrm>
          <a:prstGeom prst="roundRect">
            <a:avLst/>
          </a:prstGeom>
          <a:solidFill>
            <a:srgbClr val="142034"/>
          </a:solidFill>
          <a:ln>
            <a:solidFill>
              <a:srgbClr val="2A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508760"/>
            <a:ext cx="64008" cy="4251960"/>
          </a:xfrm>
          <a:prstGeom prst="rect">
            <a:avLst/>
          </a:prstGeom>
          <a:solidFill>
            <a:srgbClr val="78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673351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Text-to-Speech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130552"/>
            <a:ext cx="4919472" cy="350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AB9CD"/>
                </a:solidFill>
              </a:defRPr>
            </a:pPr>
            <a:r>
              <a:t>engine = pyttsx3.init()</a:t>
            </a:r>
            <a:br/>
            <a:br/>
            <a:r>
              <a:t>engine.say(text)</a:t>
            </a:r>
            <a:br/>
            <a:br/>
            <a:r>
              <a:t>engine.runAndWait()</a:t>
            </a:r>
            <a:br/>
            <a:br/>
            <a:r>
              <a:t>→ speaks the assistant's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5897880"/>
            <a:ext cx="4389120" cy="502920"/>
          </a:xfrm>
          <a:prstGeom prst="roundRect">
            <a:avLst/>
          </a:prstGeom>
          <a:solidFill>
            <a:srgbClr val="142034"/>
          </a:solidFill>
          <a:ln>
            <a:solidFill>
              <a:srgbClr val="41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Audio → 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5897880"/>
            <a:ext cx="4389120" cy="502920"/>
          </a:xfrm>
          <a:prstGeom prst="roundRect">
            <a:avLst/>
          </a:prstGeom>
          <a:solidFill>
            <a:srgbClr val="142034"/>
          </a:solidFill>
          <a:ln>
            <a:solidFill>
              <a:srgbClr val="786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Text → Spoken Audio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D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568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355080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AAB9CD"/>
                </a:solidFill>
              </a:defRPr>
            </a:pPr>
            <a:r>
              <a:t>Speech recognition handles input; text-to-speech handles the assistant's output.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Command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9CD"/>
                </a:solidFill>
                <a:latin typeface="Aptos"/>
              </a:defRPr>
            </a:pPr>
            <a:r>
              <a:t>Example: the user says “type hello world”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429000" cy="1417320"/>
          </a:xfrm>
          <a:prstGeom prst="roundRect">
            <a:avLst/>
          </a:prstGeom>
          <a:solidFill>
            <a:srgbClr val="142034"/>
          </a:solidFill>
          <a:ln>
            <a:solidFill>
              <a:srgbClr val="2A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64008" cy="1417320"/>
          </a:xfrm>
          <a:prstGeom prst="rect">
            <a:avLst/>
          </a:prstGeom>
          <a:solidFill>
            <a:srgbClr val="41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673351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30552"/>
            <a:ext cx="30449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AB9CD"/>
                </a:solidFill>
              </a:defRPr>
            </a:pPr>
            <a:r>
              <a:t>“type hello world”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429000" cy="1417320"/>
          </a:xfrm>
          <a:prstGeom prst="roundRect">
            <a:avLst/>
          </a:prstGeom>
          <a:solidFill>
            <a:srgbClr val="142034"/>
          </a:solidFill>
          <a:ln>
            <a:solidFill>
              <a:srgbClr val="2A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508760"/>
            <a:ext cx="64008" cy="1417320"/>
          </a:xfrm>
          <a:prstGeom prst="rect">
            <a:avLst/>
          </a:prstGeom>
          <a:solidFill>
            <a:srgbClr val="78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8" y="1673351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Recognition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130552"/>
            <a:ext cx="30449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AB9CD"/>
                </a:solidFill>
              </a:defRPr>
            </a:pPr>
            <a:r>
              <a:t>recognize_google()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08760"/>
            <a:ext cx="3429000" cy="1417320"/>
          </a:xfrm>
          <a:prstGeom prst="roundRect">
            <a:avLst/>
          </a:prstGeom>
          <a:solidFill>
            <a:srgbClr val="142034"/>
          </a:solidFill>
          <a:ln>
            <a:solidFill>
              <a:srgbClr val="2A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508760"/>
            <a:ext cx="64008" cy="1417320"/>
          </a:xfrm>
          <a:prstGeom prst="rect">
            <a:avLst/>
          </a:prstGeom>
          <a:solidFill>
            <a:srgbClr val="4B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0768" y="1673351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2130552"/>
            <a:ext cx="30449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AB9CD"/>
                </a:solidFill>
              </a:defRPr>
            </a:pPr>
            <a:r>
              <a:t>process_command()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37560"/>
            <a:ext cx="3429000" cy="1417320"/>
          </a:xfrm>
          <a:prstGeom prst="roundRect">
            <a:avLst/>
          </a:prstGeom>
          <a:solidFill>
            <a:srgbClr val="142034"/>
          </a:solidFill>
          <a:ln>
            <a:solidFill>
              <a:srgbClr val="2A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337560"/>
            <a:ext cx="64008" cy="1417320"/>
          </a:xfrm>
          <a:prstGeom prst="rect">
            <a:avLst/>
          </a:prstGeom>
          <a:solidFill>
            <a:srgbClr val="41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50215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959352"/>
            <a:ext cx="30449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AB9CD"/>
                </a:solidFill>
              </a:defRPr>
            </a:pPr>
            <a:r>
              <a:t>remove “type ” → “hello world”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337560"/>
            <a:ext cx="3429000" cy="1417320"/>
          </a:xfrm>
          <a:prstGeom prst="roundRect">
            <a:avLst/>
          </a:prstGeom>
          <a:solidFill>
            <a:srgbClr val="142034"/>
          </a:solidFill>
          <a:ln>
            <a:solidFill>
              <a:srgbClr val="2A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34840" y="3337560"/>
            <a:ext cx="64008" cy="1417320"/>
          </a:xfrm>
          <a:prstGeom prst="rect">
            <a:avLst/>
          </a:prstGeom>
          <a:solidFill>
            <a:srgbClr val="78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36008" y="350215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3959352"/>
            <a:ext cx="30449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AB9CD"/>
                </a:solidFill>
              </a:defRPr>
            </a:pPr>
            <a:r>
              <a:t>pyautogui.write()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337560"/>
            <a:ext cx="3429000" cy="1417320"/>
          </a:xfrm>
          <a:prstGeom prst="roundRect">
            <a:avLst/>
          </a:prstGeom>
          <a:solidFill>
            <a:srgbClr val="142034"/>
          </a:solidFill>
          <a:ln>
            <a:solidFill>
              <a:srgbClr val="2A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3337560"/>
            <a:ext cx="64008" cy="1417320"/>
          </a:xfrm>
          <a:prstGeom prst="rect">
            <a:avLst/>
          </a:prstGeom>
          <a:solidFill>
            <a:srgbClr val="4B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30768" y="350215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3959352"/>
            <a:ext cx="30449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AB9CD"/>
                </a:solidFill>
              </a:defRPr>
            </a:pPr>
            <a:r>
              <a:t>⌨  hello world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20240" y="5303520"/>
            <a:ext cx="8321040" cy="914400"/>
          </a:xfrm>
          <a:prstGeom prst="roundRect">
            <a:avLst/>
          </a:prstGeom>
          <a:solidFill>
            <a:srgbClr val="0C1626"/>
          </a:solidFill>
          <a:ln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48840" y="5468112"/>
            <a:ext cx="7863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5F8FC"/>
                </a:solidFill>
                <a:latin typeface="Consolas"/>
              </a:defRPr>
            </a:pPr>
            <a:r>
              <a:t>if command.startswith("type "):</a:t>
            </a:r>
          </a:p>
          <a:p>
            <a:pPr>
              <a:defRPr sz="1050">
                <a:solidFill>
                  <a:srgbClr val="F5F8FC"/>
                </a:solidFill>
                <a:latin typeface="Consolas"/>
              </a:defRPr>
            </a:pPr>
            <a:r>
              <a:t>    text_to_type = command.replace("type ", "", 1)</a:t>
            </a:r>
          </a:p>
          <a:p>
            <a:pPr>
              <a:defRPr sz="1050">
                <a:solidFill>
                  <a:srgbClr val="F5F8FC"/>
                </a:solidFill>
                <a:latin typeface="Consolas"/>
              </a:defRPr>
            </a:pPr>
            <a:r>
              <a:t>    pyautogui.write(text_to_type + " ", interval=0.03)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D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15568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1B25B4-C07D-7EFC-6FFD-05888612C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EE36799-F834-5311-F0B4-C6FE725F55BF}"/>
              </a:ext>
            </a:extLst>
          </p:cNvPr>
          <p:cNvSpPr/>
          <p:nvPr/>
        </p:nvSpPr>
        <p:spPr>
          <a:xfrm>
            <a:off x="9875520" y="457200"/>
            <a:ext cx="1280160" cy="1280160"/>
          </a:xfrm>
          <a:prstGeom prst="ellipse">
            <a:avLst/>
          </a:prstGeom>
          <a:solidFill>
            <a:srgbClr val="786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1797FB5-E873-E07E-AB16-169F705152FB}"/>
              </a:ext>
            </a:extLst>
          </p:cNvPr>
          <p:cNvSpPr/>
          <p:nvPr/>
        </p:nvSpPr>
        <p:spPr>
          <a:xfrm>
            <a:off x="10607040" y="1371600"/>
            <a:ext cx="640080" cy="640080"/>
          </a:xfrm>
          <a:prstGeom prst="ellipse">
            <a:avLst/>
          </a:prstGeom>
          <a:solidFill>
            <a:srgbClr val="41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52E00C5-0D59-0A12-30F8-C523A766554C}"/>
              </a:ext>
            </a:extLst>
          </p:cNvPr>
          <p:cNvSpPr/>
          <p:nvPr/>
        </p:nvSpPr>
        <p:spPr>
          <a:xfrm>
            <a:off x="9326880" y="1828800"/>
            <a:ext cx="320040" cy="320040"/>
          </a:xfrm>
          <a:prstGeom prst="ellipse">
            <a:avLst/>
          </a:prstGeom>
          <a:solidFill>
            <a:srgbClr val="4B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B2DA-70CE-9AE8-5115-D36D160AEAE1}"/>
              </a:ext>
            </a:extLst>
          </p:cNvPr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D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D30726-0B09-A875-D180-F85757B2B508}"/>
              </a:ext>
            </a:extLst>
          </p:cNvPr>
          <p:cNvSpPr txBox="1"/>
          <p:nvPr/>
        </p:nvSpPr>
        <p:spPr>
          <a:xfrm>
            <a:off x="1115568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1AA441-E222-96D7-A7FD-62A097865A5A}"/>
              </a:ext>
            </a:extLst>
          </p:cNvPr>
          <p:cNvSpPr txBox="1"/>
          <p:nvPr/>
        </p:nvSpPr>
        <p:spPr>
          <a:xfrm>
            <a:off x="759823" y="333756"/>
            <a:ext cx="7471954" cy="646331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OutPut</a:t>
            </a:r>
            <a:r>
              <a:rPr lang="en-US" dirty="0">
                <a:solidFill>
                  <a:schemeClr val="bg1"/>
                </a:solidFill>
              </a:rPr>
              <a:t>-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886272-7D31-988E-4680-B74392596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10" y="1371600"/>
            <a:ext cx="7678550" cy="370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66960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9CD"/>
                </a:solidFill>
                <a:latin typeface="Aptos"/>
              </a:defRPr>
            </a:pPr>
            <a:r>
              <a:t>One system, multiple Python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6400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• Speech recognition converts spoken commands into text.</a:t>
            </a:r>
          </a:p>
          <a:p>
            <a:pPr>
              <a:spcAft>
                <a:spcPts val="10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• process_command() evaluates the recognized command.</a:t>
            </a:r>
          </a:p>
          <a:p>
            <a:pPr>
              <a:spcAft>
                <a:spcPts val="10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• os and pyautogui perform computer actions.</a:t>
            </a:r>
          </a:p>
          <a:p>
            <a:pPr>
              <a:spcAft>
                <a:spcPts val="10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• pyttsx3 provides spoken feedback to the user.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645920"/>
            <a:ext cx="3246120" cy="731520"/>
          </a:xfrm>
          <a:prstGeom prst="roundRect">
            <a:avLst/>
          </a:prstGeom>
          <a:solidFill>
            <a:srgbClr val="142034"/>
          </a:solidFill>
          <a:ln>
            <a:solidFill>
              <a:srgbClr val="41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🎙  Voice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235440" y="2423160"/>
            <a:ext cx="0" cy="457200"/>
          </a:xfrm>
          <a:prstGeom prst="line">
            <a:avLst/>
          </a:prstGeom>
          <a:ln w="27940">
            <a:solidFill>
              <a:srgbClr val="41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635240" y="2926080"/>
            <a:ext cx="3246120" cy="731520"/>
          </a:xfrm>
          <a:prstGeom prst="roundRect">
            <a:avLst/>
          </a:prstGeom>
          <a:solidFill>
            <a:srgbClr val="142034"/>
          </a:solidFill>
          <a:ln>
            <a:solidFill>
              <a:srgbClr val="786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⚙  Python Processing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235440" y="3703320"/>
            <a:ext cx="0" cy="457200"/>
          </a:xfrm>
          <a:prstGeom prst="line">
            <a:avLst/>
          </a:prstGeom>
          <a:ln w="27940">
            <a:solidFill>
              <a:srgbClr val="41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635240" y="4206240"/>
            <a:ext cx="3246120" cy="731520"/>
          </a:xfrm>
          <a:prstGeom prst="roundRect">
            <a:avLst/>
          </a:prstGeom>
          <a:solidFill>
            <a:srgbClr val="142034"/>
          </a:solidFill>
          <a:ln>
            <a:solidFill>
              <a:srgbClr val="4B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🖥  Computer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12080"/>
            <a:ext cx="10149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41B4DC"/>
                </a:solidFill>
              </a:defRPr>
            </a:pPr>
            <a:r>
              <a:t>“From spoken words to computer actions — Python turns voice into interaction.”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D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442</Words>
  <Application>Microsoft Office PowerPoint</Application>
  <PresentationFormat>Widescreen</PresentationFormat>
  <Paragraphs>91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Namit Shetty</cp:lastModifiedBy>
  <cp:revision>3</cp:revision>
  <dcterms:created xsi:type="dcterms:W3CDTF">2013-01-27T09:14:16Z</dcterms:created>
  <dcterms:modified xsi:type="dcterms:W3CDTF">2026-08-14T05:53:50Z</dcterms:modified>
  <cp:category/>
</cp:coreProperties>
</file>